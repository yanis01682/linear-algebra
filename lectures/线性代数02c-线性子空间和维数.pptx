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01" r:id="rId3"/>
    <p:sldId id="380" r:id="rId4"/>
    <p:sldId id="384" r:id="rId5"/>
    <p:sldId id="385" r:id="rId6"/>
    <p:sldId id="390" r:id="rId7"/>
    <p:sldId id="391" r:id="rId8"/>
    <p:sldId id="392" r:id="rId9"/>
    <p:sldId id="393" r:id="rId10"/>
    <p:sldId id="394" r:id="rId11"/>
    <p:sldId id="395" r:id="rId12"/>
    <p:sldId id="396" r:id="rId13"/>
    <p:sldId id="382" r:id="rId14"/>
    <p:sldId id="398" r:id="rId15"/>
    <p:sldId id="399" r:id="rId16"/>
    <p:sldId id="400" r:id="rId17"/>
    <p:sldId id="405" r:id="rId18"/>
    <p:sldId id="410" r:id="rId19"/>
    <p:sldId id="412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717"/>
    <a:srgbClr val="66CCFF"/>
    <a:srgbClr val="FF8400"/>
    <a:srgbClr val="4472C4"/>
    <a:srgbClr val="2EDF11"/>
    <a:srgbClr val="00FFFF"/>
    <a:srgbClr val="EAA426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65" d="100"/>
          <a:sy n="65" d="100"/>
        </p:scale>
        <p:origin x="716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3252AB-6F9B-475A-97C2-C40EDCD63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B4A5D9C-4C54-484B-A562-08E63FA18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6F2D91-AFF5-4161-9E8D-4DECDD602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D21B-02F7-4245-821B-2F7ED0D234C3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214E3-6F95-4ACD-99FD-6D799B6AD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AF886F-AB6C-4FC9-A457-C430EFCD2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C9C1-FD19-4076-AE3F-4193DD054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357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6652B0-4DFB-40FC-9E28-5000B4B66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F698DE-4046-43AB-8FA7-223031A76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42096C-95CC-4FE0-9A04-DF5A52D92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D21B-02F7-4245-821B-2F7ED0D234C3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DE78E3-EEC5-4655-B89B-E039B8A6F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AB45BA-93F3-4980-95A7-5365B060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C9C1-FD19-4076-AE3F-4193DD054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124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8F9AF3-482D-4865-A5E5-03A1F46A6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98C60B-A106-4F2C-9387-D2331986A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0EAD6E-6832-46BF-9ACC-7297A040B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D21B-02F7-4245-821B-2F7ED0D234C3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0C0E10-FDA6-43BB-AB5D-4B3B67357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D32698-BE9E-44A0-AD3F-15D19DC1D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C9C1-FD19-4076-AE3F-4193DD054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241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0E38A1-D148-43F6-BC73-E2C143448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A37BA7-658F-4CDD-8440-ACD50BCFE0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A7B356-E51A-4037-ADC8-6106589EA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ABAE39-A2E3-440B-8A7E-0105DCE25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D21B-02F7-4245-821B-2F7ED0D234C3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53ECC9-5080-4F56-BD8A-3D0DB0D1E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E5FC47-CA67-4342-9470-D94E7F6D5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C9C1-FD19-4076-AE3F-4193DD054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922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66E837-A796-4859-8F6F-04A870723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62E791-BB86-47E0-A4A8-721FF9002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9F79C8-7807-4F5F-8E2E-DC820C7AB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24F7A35-F27A-4C1B-87E7-F6B123E396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CE48C27-CAC0-44E8-84AA-998681BB7E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F27718A-8A28-4C17-A3D7-EB15FEE9D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D21B-02F7-4245-821B-2F7ED0D234C3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DBC38CE-28D2-4A84-A389-6568DCFDE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69AC246-67CF-4E98-88DA-6BEC6DACE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C9C1-FD19-4076-AE3F-4193DD054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805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84C257-6D48-4D83-8EDE-1F26998BD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CD920DC-B0E4-42E5-A060-137B1BCF4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D21B-02F7-4245-821B-2F7ED0D234C3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559C33D-44DE-47BA-8A25-46F205818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921475-6113-43D5-AFB7-4D4763F5F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C9C1-FD19-4076-AE3F-4193DD054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073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5220C49-F431-49A6-82D2-64954B444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D21B-02F7-4245-821B-2F7ED0D234C3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F7AD1D-8B8E-4BA4-A20A-F2E39EBF6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ED81F7-E214-4C10-B2CB-9331BA5D3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C9C1-FD19-4076-AE3F-4193DD054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405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B70AC9-4511-4499-B1F5-62259BCBE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7A51C8-AC00-4D04-A645-1C655A69F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900842-1DC9-47D4-AF17-4F8E7C2AE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824A36-9D9F-4D80-916D-44C7D84CC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D21B-02F7-4245-821B-2F7ED0D234C3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13B1BA-204C-4EA2-9EC1-CBAE91359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1D3B2D-3AA9-4A1F-8600-2909A63B5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C9C1-FD19-4076-AE3F-4193DD054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484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F8B32B-74D1-42AC-B207-7A8F4FF41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5579144-E3CB-4500-B225-E6A4A80832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06F589-DA81-43CD-A2AA-72DE045B5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19F712-DE6A-498A-9945-A473D9DE3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D21B-02F7-4245-821B-2F7ED0D234C3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8B403F-E4A4-4C3F-A857-B7A518983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0E7E52-05F2-4F0D-A2CF-E9796EC9E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C9C1-FD19-4076-AE3F-4193DD054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006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405B61-D744-4EF9-B428-0AF9E0585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0DE9CC-B86A-4DDE-8B23-C32D86BEC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961DEA-0236-46B5-9753-BC98EDCFA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D21B-02F7-4245-821B-2F7ED0D234C3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0846E5-F180-41B4-9CAE-0AED06518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334E80-AAD9-4BCA-8263-D6E79BBF2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C9C1-FD19-4076-AE3F-4193DD054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652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407243E-6101-48FF-86D5-3E123568E6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4C7CA8-6D95-4323-B5DF-A20767B57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8E9C40-547C-4348-BF53-3A032F655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D21B-02F7-4245-821B-2F7ED0D234C3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FD4F80-8F69-4B75-8B21-F896A14E2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153D81-B939-4BC3-8AF0-C90F9E737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8C9C1-FD19-4076-AE3F-4193DD054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07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B224D38-2C6D-48CE-AF9F-00853F7FF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B9715C-B621-4489-9E7F-A68AF24D5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100ECC-B735-4D79-90AE-EAB2CE2DE2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3D21B-02F7-4245-821B-2F7ED0D234C3}" type="datetimeFigureOut">
              <a:rPr lang="zh-CN" altLang="en-US" smtClean="0"/>
              <a:t>2024/9/23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3001AE-0C4F-4088-93D1-681565F0F0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F1731D-25CA-418E-9799-E05C68C0D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88C9C1-FD19-4076-AE3F-4193DD054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033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4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7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10.xml"/><Relationship Id="rId7" Type="http://schemas.openxmlformats.org/officeDocument/2006/relationships/image" Target="../media/image8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Layout" Target="../slideLayouts/slideLayout1.xml"/><Relationship Id="rId11" Type="http://schemas.openxmlformats.org/officeDocument/2006/relationships/image" Target="../media/image12.png"/><Relationship Id="rId5" Type="http://schemas.openxmlformats.org/officeDocument/2006/relationships/tags" Target="../tags/tag12.xml"/><Relationship Id="rId10" Type="http://schemas.openxmlformats.org/officeDocument/2006/relationships/image" Target="../media/image11.png"/><Relationship Id="rId4" Type="http://schemas.openxmlformats.org/officeDocument/2006/relationships/tags" Target="../tags/tag11.xml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7" Type="http://schemas.openxmlformats.org/officeDocument/2006/relationships/image" Target="../media/image15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20.xml"/><Relationship Id="rId7" Type="http://schemas.openxmlformats.org/officeDocument/2006/relationships/image" Target="../media/image19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18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1.xml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image" Target="../media/image24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7" Type="http://schemas.openxmlformats.org/officeDocument/2006/relationships/image" Target="../media/image27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7" Type="http://schemas.openxmlformats.org/officeDocument/2006/relationships/image" Target="../media/image30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7" Type="http://schemas.openxmlformats.org/officeDocument/2006/relationships/image" Target="../media/image33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7" Type="http://schemas.openxmlformats.org/officeDocument/2006/relationships/image" Target="../media/image36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A6011-8858-4C4F-A9ED-ACF0BF3D0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zh-CN" altLang="en-US" sz="8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线性代数</a:t>
            </a:r>
            <a:r>
              <a:rPr lang="en-US" altLang="zh-CN" sz="8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023</a:t>
            </a:r>
            <a:endParaRPr lang="zh-CN" altLang="en-US" sz="80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64D6037-FB1F-4059-A24B-74C38678E02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215" y="3865149"/>
            <a:ext cx="6627570" cy="56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71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框 100">
            <a:extLst>
              <a:ext uri="{FF2B5EF4-FFF2-40B4-BE49-F238E27FC236}">
                <a16:creationId xmlns:a16="http://schemas.microsoft.com/office/drawing/2014/main" id="{12D04C5B-3E0F-4556-8448-1D2AD1FD12E6}"/>
              </a:ext>
            </a:extLst>
          </p:cNvPr>
          <p:cNvSpPr txBox="1"/>
          <p:nvPr/>
        </p:nvSpPr>
        <p:spPr>
          <a:xfrm>
            <a:off x="516923" y="607087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rgbClr val="66CC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本讲主题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67AC185-61E7-4383-86BA-EDE30BFFFB95}"/>
              </a:ext>
            </a:extLst>
          </p:cNvPr>
          <p:cNvSpPr txBox="1"/>
          <p:nvPr/>
        </p:nvSpPr>
        <p:spPr>
          <a:xfrm>
            <a:off x="635677" y="1682103"/>
            <a:ext cx="52116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来自各种实际问题的线性方程组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BDD7671-D754-4FDA-80BD-873218E6DC34}"/>
              </a:ext>
            </a:extLst>
          </p:cNvPr>
          <p:cNvSpPr txBox="1"/>
          <p:nvPr/>
        </p:nvSpPr>
        <p:spPr>
          <a:xfrm>
            <a:off x="635677" y="2372398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线性方程组的表示方法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090EDE1-0AC8-4CDF-98CF-2756248DAC08}"/>
              </a:ext>
            </a:extLst>
          </p:cNvPr>
          <p:cNvSpPr txBox="1"/>
          <p:nvPr/>
        </p:nvSpPr>
        <p:spPr>
          <a:xfrm>
            <a:off x="635677" y="3062693"/>
            <a:ext cx="5929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叠加原理，线性方程组的分类与联系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FD130D5-458B-410F-8CF3-AE4E9C39BB87}"/>
              </a:ext>
            </a:extLst>
          </p:cNvPr>
          <p:cNvSpPr txBox="1"/>
          <p:nvPr/>
        </p:nvSpPr>
        <p:spPr>
          <a:xfrm>
            <a:off x="635676" y="3752988"/>
            <a:ext cx="52116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线性表示、线性相关、线性无关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F6E3285-8312-4206-9DB6-C4EAC0520377}"/>
              </a:ext>
            </a:extLst>
          </p:cNvPr>
          <p:cNvSpPr txBox="1"/>
          <p:nvPr/>
        </p:nvSpPr>
        <p:spPr>
          <a:xfrm>
            <a:off x="635676" y="4443283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极大线性无关组与向量组的秩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C672FD23-4680-461C-8FAB-0427C00E8B26}"/>
              </a:ext>
            </a:extLst>
          </p:cNvPr>
          <p:cNvSpPr txBox="1"/>
          <p:nvPr/>
        </p:nvSpPr>
        <p:spPr>
          <a:xfrm>
            <a:off x="635676" y="5133578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线性子空间，基底与维数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2131AF-39C5-4797-A344-B47B0B6237CC}"/>
              </a:ext>
            </a:extLst>
          </p:cNvPr>
          <p:cNvSpPr txBox="1"/>
          <p:nvPr/>
        </p:nvSpPr>
        <p:spPr>
          <a:xfrm>
            <a:off x="635676" y="5823873"/>
            <a:ext cx="105977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线性映射的值域空间和零空间，矩阵的列空间和行空间，矩阵的秩</a:t>
            </a:r>
          </a:p>
        </p:txBody>
      </p:sp>
    </p:spTree>
    <p:extLst>
      <p:ext uri="{BB962C8B-B14F-4D97-AF65-F5344CB8AC3E}">
        <p14:creationId xmlns:p14="http://schemas.microsoft.com/office/powerpoint/2010/main" val="2890750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框 100">
            <a:extLst>
              <a:ext uri="{FF2B5EF4-FFF2-40B4-BE49-F238E27FC236}">
                <a16:creationId xmlns:a16="http://schemas.microsoft.com/office/drawing/2014/main" id="{12D04C5B-3E0F-4556-8448-1D2AD1FD12E6}"/>
              </a:ext>
            </a:extLst>
          </p:cNvPr>
          <p:cNvSpPr txBox="1"/>
          <p:nvPr/>
        </p:nvSpPr>
        <p:spPr>
          <a:xfrm>
            <a:off x="516923" y="607087"/>
            <a:ext cx="8494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线性映射的秩与余秩、矩阵的列秩与行秩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D2BBD0E-5572-479A-B10B-19AA8074D84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19" y="1946253"/>
            <a:ext cx="9737751" cy="93451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87CFA16-0AFC-4E45-8A0A-C24F3643DC9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19" y="3583573"/>
            <a:ext cx="9682279" cy="9345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85C59B9-E95C-45DB-9133-B3F45F97456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1" y="5154804"/>
            <a:ext cx="6964070" cy="332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805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框 100">
            <a:extLst>
              <a:ext uri="{FF2B5EF4-FFF2-40B4-BE49-F238E27FC236}">
                <a16:creationId xmlns:a16="http://schemas.microsoft.com/office/drawing/2014/main" id="{12D04C5B-3E0F-4556-8448-1D2AD1FD12E6}"/>
              </a:ext>
            </a:extLst>
          </p:cNvPr>
          <p:cNvSpPr txBox="1"/>
          <p:nvPr/>
        </p:nvSpPr>
        <p:spPr>
          <a:xfrm>
            <a:off x="516923" y="607087"/>
            <a:ext cx="8494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线性映射的秩与余秩、矩阵的列秩与行秩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884442B-3FF8-45AF-A096-2EE964410D8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264" y="1758721"/>
            <a:ext cx="9112605" cy="269473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B680124-7A95-4347-853D-1780F6E1D74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264" y="4812401"/>
            <a:ext cx="10074858" cy="94731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A2D3A74-9639-4DCF-A3F9-629333E3D4E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265" y="6118661"/>
            <a:ext cx="11653723" cy="38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629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框 100">
            <a:extLst>
              <a:ext uri="{FF2B5EF4-FFF2-40B4-BE49-F238E27FC236}">
                <a16:creationId xmlns:a16="http://schemas.microsoft.com/office/drawing/2014/main" id="{12D04C5B-3E0F-4556-8448-1D2AD1FD12E6}"/>
              </a:ext>
            </a:extLst>
          </p:cNvPr>
          <p:cNvSpPr txBox="1"/>
          <p:nvPr/>
        </p:nvSpPr>
        <p:spPr>
          <a:xfrm>
            <a:off x="516923" y="607087"/>
            <a:ext cx="8494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线性映射的秩与余秩、矩阵的列秩与行秩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E967D63-7AC6-45C0-B976-45524C549B7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04" y="1866037"/>
            <a:ext cx="5124907" cy="39471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B02600E-70E7-4AFC-906E-A5BEA3EF0FE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03" y="5679278"/>
            <a:ext cx="7352386" cy="37978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D38EAF0-2236-4F77-A5B5-E966A4703E8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03" y="2668519"/>
            <a:ext cx="10685068" cy="39258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846DEEA-0FBA-493F-9F40-89623E8AE4B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03" y="3263286"/>
            <a:ext cx="10638129" cy="94731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FB2CBB5-0DED-48E7-859E-4FD9DA6C9BC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03" y="4412789"/>
            <a:ext cx="6494678" cy="94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313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框 100">
            <a:extLst>
              <a:ext uri="{FF2B5EF4-FFF2-40B4-BE49-F238E27FC236}">
                <a16:creationId xmlns:a16="http://schemas.microsoft.com/office/drawing/2014/main" id="{12D04C5B-3E0F-4556-8448-1D2AD1FD12E6}"/>
              </a:ext>
            </a:extLst>
          </p:cNvPr>
          <p:cNvSpPr txBox="1"/>
          <p:nvPr/>
        </p:nvSpPr>
        <p:spPr>
          <a:xfrm>
            <a:off x="516923" y="607087"/>
            <a:ext cx="8494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线性映射的秩与余秩、矩阵的列秩与行秩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8FE08E6-DE94-4FA9-A1C0-A1DA597A557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03" y="1666309"/>
            <a:ext cx="8335975" cy="123748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9D2E3BE-20A2-43C2-88AF-8EDCBC581D8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05" y="3428999"/>
            <a:ext cx="10557053" cy="203972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9B63840-1A77-4526-AA4B-47E24FF395E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03" y="5724934"/>
            <a:ext cx="8843772" cy="88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7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框 100">
            <a:extLst>
              <a:ext uri="{FF2B5EF4-FFF2-40B4-BE49-F238E27FC236}">
                <a16:creationId xmlns:a16="http://schemas.microsoft.com/office/drawing/2014/main" id="{12D04C5B-3E0F-4556-8448-1D2AD1FD12E6}"/>
              </a:ext>
            </a:extLst>
          </p:cNvPr>
          <p:cNvSpPr txBox="1"/>
          <p:nvPr/>
        </p:nvSpPr>
        <p:spPr>
          <a:xfrm>
            <a:off x="516923" y="607087"/>
            <a:ext cx="4801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对偶空间的维数与基底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44BAFFF-18E7-4C4C-8756-50A4677F1B1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23" y="1890486"/>
            <a:ext cx="6836053" cy="88331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8335B23-030B-42BD-B8DE-B3F156210D5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22" y="3454707"/>
            <a:ext cx="10559185" cy="148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165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框 100">
            <a:extLst>
              <a:ext uri="{FF2B5EF4-FFF2-40B4-BE49-F238E27FC236}">
                <a16:creationId xmlns:a16="http://schemas.microsoft.com/office/drawing/2014/main" id="{12D04C5B-3E0F-4556-8448-1D2AD1FD12E6}"/>
              </a:ext>
            </a:extLst>
          </p:cNvPr>
          <p:cNvSpPr txBox="1"/>
          <p:nvPr/>
        </p:nvSpPr>
        <p:spPr>
          <a:xfrm>
            <a:off x="516923" y="607087"/>
            <a:ext cx="4801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对偶空间的维数与基底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2F9890FF-FA4D-4355-8451-231027A172F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87" y="1941880"/>
            <a:ext cx="8794697" cy="228295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6E56480-3150-4BAB-AFD2-C545CD4C50F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87" y="4319157"/>
            <a:ext cx="9788956" cy="39471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6F6ADD1-9939-4340-85C6-786436212B8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906" y="5894601"/>
            <a:ext cx="5229453" cy="35631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791D985-9216-4DA4-B09A-5F96523BAC4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289" y="5112213"/>
            <a:ext cx="8811768" cy="35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86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框 100">
            <a:extLst>
              <a:ext uri="{FF2B5EF4-FFF2-40B4-BE49-F238E27FC236}">
                <a16:creationId xmlns:a16="http://schemas.microsoft.com/office/drawing/2014/main" id="{12D04C5B-3E0F-4556-8448-1D2AD1FD12E6}"/>
              </a:ext>
            </a:extLst>
          </p:cNvPr>
          <p:cNvSpPr txBox="1"/>
          <p:nvPr/>
        </p:nvSpPr>
        <p:spPr>
          <a:xfrm>
            <a:off x="516923" y="607087"/>
            <a:ext cx="4801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对偶空间的维数与基底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AAEFF59-BD00-43D7-902E-BA4FD70C4F3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870" y="1876084"/>
            <a:ext cx="5391606" cy="93025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596900C-09B8-4245-9C4F-DE34EAFE6AD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870" y="3429000"/>
            <a:ext cx="7926324" cy="93238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BC49D9E2-5B31-45E4-87D3-F6C5FF71D4F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870" y="4984050"/>
            <a:ext cx="5869533" cy="38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944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框 100">
            <a:extLst>
              <a:ext uri="{FF2B5EF4-FFF2-40B4-BE49-F238E27FC236}">
                <a16:creationId xmlns:a16="http://schemas.microsoft.com/office/drawing/2014/main" id="{12D04C5B-3E0F-4556-8448-1D2AD1FD12E6}"/>
              </a:ext>
            </a:extLst>
          </p:cNvPr>
          <p:cNvSpPr txBox="1"/>
          <p:nvPr/>
        </p:nvSpPr>
        <p:spPr>
          <a:xfrm>
            <a:off x="516923" y="607087"/>
            <a:ext cx="4801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对偶空间的维数与基底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BF8FC20-C497-4022-8EE3-313658A4298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870" y="1876084"/>
            <a:ext cx="1598066" cy="354178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A336D6A1-E44D-4F17-B8E6-2B0481FD693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35" y="2923367"/>
            <a:ext cx="8504529" cy="932384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97DF8453-B37A-49EF-B75A-0B1DD4F7AA4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34" y="4548856"/>
            <a:ext cx="8726422" cy="93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84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框 100">
            <a:extLst>
              <a:ext uri="{FF2B5EF4-FFF2-40B4-BE49-F238E27FC236}">
                <a16:creationId xmlns:a16="http://schemas.microsoft.com/office/drawing/2014/main" id="{12D04C5B-3E0F-4556-8448-1D2AD1FD12E6}"/>
              </a:ext>
            </a:extLst>
          </p:cNvPr>
          <p:cNvSpPr txBox="1"/>
          <p:nvPr/>
        </p:nvSpPr>
        <p:spPr>
          <a:xfrm>
            <a:off x="516923" y="607087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矩阵的行秩与列秩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A3C38B-E4BE-40AF-81C0-6BBF0381070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870" y="1876082"/>
            <a:ext cx="3695394" cy="33284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F2CF117-71CC-4502-8BB1-38D1C377DE7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872" y="2831590"/>
            <a:ext cx="10463173" cy="94945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5AD9CEE9-0369-49F7-9374-08DEBC81332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870" y="4288496"/>
            <a:ext cx="9155277" cy="94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526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框 100">
            <a:extLst>
              <a:ext uri="{FF2B5EF4-FFF2-40B4-BE49-F238E27FC236}">
                <a16:creationId xmlns:a16="http://schemas.microsoft.com/office/drawing/2014/main" id="{12D04C5B-3E0F-4556-8448-1D2AD1FD12E6}"/>
              </a:ext>
            </a:extLst>
          </p:cNvPr>
          <p:cNvSpPr txBox="1"/>
          <p:nvPr/>
        </p:nvSpPr>
        <p:spPr>
          <a:xfrm>
            <a:off x="516923" y="607087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矩阵的行秩与列秩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269D44-A893-4ECD-AE5C-1C422E62851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522" y="4087862"/>
            <a:ext cx="5905804" cy="39471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CA90EF1-CCC6-4753-9503-C356A10E69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522" y="5110905"/>
            <a:ext cx="6714438" cy="38191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FBDFAE0-D3EC-4DAE-B872-6D740ECBF6E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522" y="1961747"/>
            <a:ext cx="6163969" cy="149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882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框 100">
            <a:extLst>
              <a:ext uri="{FF2B5EF4-FFF2-40B4-BE49-F238E27FC236}">
                <a16:creationId xmlns:a16="http://schemas.microsoft.com/office/drawing/2014/main" id="{12D04C5B-3E0F-4556-8448-1D2AD1FD12E6}"/>
              </a:ext>
            </a:extLst>
          </p:cNvPr>
          <p:cNvSpPr txBox="1"/>
          <p:nvPr/>
        </p:nvSpPr>
        <p:spPr>
          <a:xfrm>
            <a:off x="516923" y="607087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计算问题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9AC592E-C231-480E-8079-312D5AE178C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0" y="1946256"/>
            <a:ext cx="9357970" cy="88331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24F3275-F4C9-497D-93BD-98E6C4DEBFC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18" y="3583575"/>
            <a:ext cx="8649616" cy="33070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0F640A4-6A8E-47DA-B73B-8FD7523BC8E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19" y="4668291"/>
            <a:ext cx="8295439" cy="33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576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框 100">
            <a:extLst>
              <a:ext uri="{FF2B5EF4-FFF2-40B4-BE49-F238E27FC236}">
                <a16:creationId xmlns:a16="http://schemas.microsoft.com/office/drawing/2014/main" id="{12D04C5B-3E0F-4556-8448-1D2AD1FD12E6}"/>
              </a:ext>
            </a:extLst>
          </p:cNvPr>
          <p:cNvSpPr txBox="1"/>
          <p:nvPr/>
        </p:nvSpPr>
        <p:spPr>
          <a:xfrm>
            <a:off x="516923" y="607087"/>
            <a:ext cx="1681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作业</a:t>
            </a:r>
            <a:r>
              <a:rPr lang="en-US" altLang="zh-CN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2962983-5122-4808-8DA4-6C6FBA90012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7" y="1860315"/>
            <a:ext cx="11717729" cy="468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341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框 100">
            <a:extLst>
              <a:ext uri="{FF2B5EF4-FFF2-40B4-BE49-F238E27FC236}">
                <a16:creationId xmlns:a16="http://schemas.microsoft.com/office/drawing/2014/main" id="{12D04C5B-3E0F-4556-8448-1D2AD1FD12E6}"/>
              </a:ext>
            </a:extLst>
          </p:cNvPr>
          <p:cNvSpPr txBox="1"/>
          <p:nvPr/>
        </p:nvSpPr>
        <p:spPr>
          <a:xfrm>
            <a:off x="516923" y="607087"/>
            <a:ext cx="30668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作业</a:t>
            </a:r>
            <a:r>
              <a:rPr lang="en-US" altLang="zh-CN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02</a:t>
            </a:r>
            <a:r>
              <a:rPr lang="zh-CN" altLang="en-US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（续）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50EFBB3-6207-4C8B-A0CB-0D1122B4E12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602" y="1698953"/>
            <a:ext cx="10074858" cy="393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718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框 100">
            <a:extLst>
              <a:ext uri="{FF2B5EF4-FFF2-40B4-BE49-F238E27FC236}">
                <a16:creationId xmlns:a16="http://schemas.microsoft.com/office/drawing/2014/main" id="{12D04C5B-3E0F-4556-8448-1D2AD1FD12E6}"/>
              </a:ext>
            </a:extLst>
          </p:cNvPr>
          <p:cNvSpPr txBox="1"/>
          <p:nvPr/>
        </p:nvSpPr>
        <p:spPr>
          <a:xfrm>
            <a:off x="516923" y="607087"/>
            <a:ext cx="30668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作业</a:t>
            </a:r>
            <a:r>
              <a:rPr lang="en-US" altLang="zh-CN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02</a:t>
            </a:r>
            <a:r>
              <a:rPr lang="zh-CN" altLang="en-US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（续）</a:t>
            </a: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DB0980CC-8AC2-4ACC-BC27-EB129960DD6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32" y="1664719"/>
            <a:ext cx="11756136" cy="385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392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框 100">
            <a:extLst>
              <a:ext uri="{FF2B5EF4-FFF2-40B4-BE49-F238E27FC236}">
                <a16:creationId xmlns:a16="http://schemas.microsoft.com/office/drawing/2014/main" id="{12D04C5B-3E0F-4556-8448-1D2AD1FD12E6}"/>
              </a:ext>
            </a:extLst>
          </p:cNvPr>
          <p:cNvSpPr txBox="1"/>
          <p:nvPr/>
        </p:nvSpPr>
        <p:spPr>
          <a:xfrm>
            <a:off x="516923" y="607087"/>
            <a:ext cx="30668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作业</a:t>
            </a:r>
            <a:r>
              <a:rPr lang="en-US" altLang="zh-CN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02</a:t>
            </a:r>
            <a:r>
              <a:rPr lang="zh-CN" altLang="en-US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（续）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78F6936-B6AA-4AF5-A180-CA4AC9B5015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37" y="1664721"/>
            <a:ext cx="11754002" cy="495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503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框 100">
            <a:extLst>
              <a:ext uri="{FF2B5EF4-FFF2-40B4-BE49-F238E27FC236}">
                <a16:creationId xmlns:a16="http://schemas.microsoft.com/office/drawing/2014/main" id="{12D04C5B-3E0F-4556-8448-1D2AD1FD12E6}"/>
              </a:ext>
            </a:extLst>
          </p:cNvPr>
          <p:cNvSpPr txBox="1"/>
          <p:nvPr/>
        </p:nvSpPr>
        <p:spPr>
          <a:xfrm>
            <a:off x="516923" y="607087"/>
            <a:ext cx="30668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作业</a:t>
            </a:r>
            <a:r>
              <a:rPr lang="en-US" altLang="zh-CN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02</a:t>
            </a:r>
            <a:r>
              <a:rPr lang="zh-CN" altLang="en-US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（续）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8331B35-6082-4080-88AD-CB87AC1CB27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37" y="1664721"/>
            <a:ext cx="11741200" cy="408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491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框 100">
            <a:extLst>
              <a:ext uri="{FF2B5EF4-FFF2-40B4-BE49-F238E27FC236}">
                <a16:creationId xmlns:a16="http://schemas.microsoft.com/office/drawing/2014/main" id="{12D04C5B-3E0F-4556-8448-1D2AD1FD12E6}"/>
              </a:ext>
            </a:extLst>
          </p:cNvPr>
          <p:cNvSpPr txBox="1"/>
          <p:nvPr/>
        </p:nvSpPr>
        <p:spPr>
          <a:xfrm>
            <a:off x="516923" y="607087"/>
            <a:ext cx="30668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作业</a:t>
            </a:r>
            <a:r>
              <a:rPr lang="en-US" altLang="zh-CN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02</a:t>
            </a:r>
            <a:r>
              <a:rPr lang="zh-CN" altLang="en-US" sz="36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（续）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70685A8-24A1-4FEA-97F0-2E614FF0BDC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39" y="1664723"/>
            <a:ext cx="9771889" cy="379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4880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6.25"/>
  <p:tag name="ORIGINALWIDTH" val="1359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线性子空间、基底和维数\end{document}"/>
  <p:tag name="IGUANATEXSIZE" val="48"/>
  <p:tag name="IGUANATEXCURSOR" val="192"/>
  <p:tag name="TRANSPARENCY" val="True"/>
  <p:tag name="FILENAME" val=""/>
  <p:tag name="INPUTTYPE" val="0"/>
  <p:tag name="LATEXENGINEID" val="0"/>
  <p:tag name="TEMPFOLDER" val="c:\tmp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28.5"/>
  <p:tag name="ORIGINALWIDTH" val="3423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线性映射~$A$~的值域空间（矩阵~$A$~的列空间）的维数，$\dim R(A)$&#10;&#10;称为{\color{orange}\bf 线性映射~$A$~的秩}（矩阵~$A$~的&#10;{\color{orange}\bf 列秩}），记为~$\color{orange}\mathrm{rank}(A)$.&#10;&#10;&#10;&#10;\end{document}"/>
  <p:tag name="IGUANATEXSIZE" val="28"/>
  <p:tag name="IGUANATEXCURSOR" val="227"/>
  <p:tag name="TRANSPARENCY" val="True"/>
  <p:tag name="FILENAME" val=""/>
  <p:tag name="INPUTTYPE" val="0"/>
  <p:tag name="LATEXENGINEID" val="0"/>
  <p:tag name="TEMPFOLDER" val="c:\tmp\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28.5"/>
  <p:tag name="ORIGINALWIDTH" val="3403.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线性映射~$A$~的零空间（矩阵~$A$~的零空间）的维数，$\dim\mathrm{Ker}(A)$&#10;&#10;称为{\color{orange}\bf 线性映射~$A$~的余秩}（矩阵~$A$~的&#10;{\color{orange}\bf 余秩}）&#10;，记为~$\color{orange}\mathrm{co\text{-}rank}(A)$.&#10;&#10;&#10;&#10;\end{document}"/>
  <p:tag name="IGUANATEXSIZE" val="28"/>
  <p:tag name="IGUANATEXCURSOR" val="235"/>
  <p:tag name="TRANSPARENCY" val="True"/>
  <p:tag name="FILENAME" val=""/>
  <p:tag name="INPUTTYPE" val="0"/>
  <p:tag name="LATEXENGINEID" val="0"/>
  <p:tag name="TEMPFOLDER" val="c:\tmp\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7"/>
  <p:tag name="ORIGINALWIDTH" val="2448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矩阵~$A$~的行空间的维数，称为矩阵~$A$~的{\color{orange}\bf 行秩}.&#10;&#10;&#10;&#10;\end{document}"/>
  <p:tag name="IGUANATEXSIZE" val="28"/>
  <p:tag name="IGUANATEXCURSOR" val="224"/>
  <p:tag name="TRANSPARENCY" val="True"/>
  <p:tag name="FILENAME" val=""/>
  <p:tag name="INPUTTYPE" val="0"/>
  <p:tag name="LATEXENGINEID" val="0"/>
  <p:tag name="TEMPFOLDER" val="c:\tmp\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47.25"/>
  <p:tag name="ORIGINALWIDTH" val="3203.2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{\color{cyan}设~$V,W$~分别是~$\mathbb{R}^n,\mathbb{R}^m$~的子空间，&#10;$\dim V=p$，$\dim W=q$.&#10;&#10;设~$A:V\to W$~是线性映射，$s=\dim \mathrm{Ker}(A)$. 则&#10;\[\dim \mathrm{R}(A)+\dim\mathrm{Ker}(A)=\dim V\]&#10;&#10;$A$~的秩和余秩之和为原像空间~$V$~的维数. &#10;}&#10;&#10;&#10;\end{document}"/>
  <p:tag name="IGUANATEXSIZE" val="28"/>
  <p:tag name="IGUANATEXCURSOR" val="332"/>
  <p:tag name="TRANSPARENCY" val="True"/>
  <p:tag name="FILENAME" val=""/>
  <p:tag name="INPUTTYPE" val="0"/>
  <p:tag name="LATEXENGINEID" val="0"/>
  <p:tag name="TEMPFOLDER" val="c:\tmp\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33"/>
  <p:tag name="ORIGINALWIDTH" val="3541.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{\color{cyan}\bf 证明：}取~$\mathrm{Ker}(A)$~的一组基&#10;~${\color{cyan}\mathbf{v}_1,\ldots,\mathbf{v}_s}$，并把它扩充为~$V$~的一组基&#10;&#10;~${\color{cyan}\mathbf{v}_1,\ldots,\mathbf{v}_s},\ldots,\mathbf{v}_p$.&#10;&#10;&#10;&#10;\end{document}"/>
  <p:tag name="IGUANATEXSIZE" val="28"/>
  <p:tag name="IGUANATEXCURSOR" val="346"/>
  <p:tag name="TRANSPARENCY" val="True"/>
  <p:tag name="FILENAME" val=""/>
  <p:tag name="INPUTTYPE" val="0"/>
  <p:tag name="LATEXENGINEID" val="0"/>
  <p:tag name="TEMPFOLDER" val="c:\tmp\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6.5"/>
  <p:tag name="ORIGINALWIDTH" val="4096.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于是&#10;~$\mathrm{R}(A)=\mathrm{span}\{{\color{cyan}A\mathbf{v}_1,\ldots,A\mathbf{v}_s},A\mathbf{v}_{s+1}\ldots,A\mathbf{v}_p\}=\mathrm{span}\{A\mathbf{v}_{s+1},\ldots,A\mathbf{v}_p\}$.&#10;&#10;&#10;&#10;\end{document}"/>
  <p:tag name="IGUANATEXSIZE" val="28"/>
  <p:tag name="IGUANATEXCURSOR" val="200"/>
  <p:tag name="TRANSPARENCY" val="True"/>
  <p:tag name="FILENAME" val=""/>
  <p:tag name="INPUTTYPE" val="0"/>
  <p:tag name="LATEXENGINEID" val="0"/>
  <p:tag name="TEMPFOLDER" val="c:\tmp\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8.75"/>
  <p:tag name="ORIGINALWIDTH" val="1801.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向量组&#10;~$A\mathbf{v}_{s+1},\ldots,A\mathbf{v}_p$~线性无关：&#10;\end{document}"/>
  <p:tag name="IGUANATEXSIZE" val="28"/>
  <p:tag name="IGUANATEXCURSOR" val="237"/>
  <p:tag name="TRANSPARENCY" val="True"/>
  <p:tag name="FILENAME" val=""/>
  <p:tag name="INPUTTYPE" val="0"/>
  <p:tag name="LATEXENGINEID" val="0"/>
  <p:tag name="TEMPFOLDER" val="c:\tmp\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3.5"/>
  <p:tag name="ORIGINALWIDTH" val="2584.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因此~$\dim \mathrm{R}(A)=p-s=p-\dim\mathrm{Ker}(A)$. {\color{cyan}\bf 证毕.}&#10;\end{document}"/>
  <p:tag name="IGUANATEXSIZE" val="28"/>
  <p:tag name="IGUANATEXCURSOR" val="203"/>
  <p:tag name="TRANSPARENCY" val="True"/>
  <p:tag name="FILENAME" val=""/>
  <p:tag name="INPUTTYPE" val="0"/>
  <p:tag name="LATEXENGINEID" val="0"/>
  <p:tag name="TEMPFOLDER" val="c:\tmp\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8"/>
  <p:tag name="ORIGINALWIDTH" val="3756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若~$\lambda_{s+1}A\mathbf{v}_{s+1}+\cdots+\lambda_pA\mathbf{v}_p=\mathbf{0}$，则&#10;~$A(\lambda_{s+1}\mathbf{v}_{s+1}+\cdots+\lambda_p\mathbf{v}_p)=\mathbf{0}$，&#10;&#10;\end{document}"/>
  <p:tag name="IGUANATEXSIZE" val="28"/>
  <p:tag name="IGUANATEXCURSOR" val="341"/>
  <p:tag name="TRANSPARENCY" val="True"/>
  <p:tag name="FILENAME" val=""/>
  <p:tag name="INPUTTYPE" val="0"/>
  <p:tag name="LATEXENGINEID" val="0"/>
  <p:tag name="TEMPFOLDER" val="c:\tmp\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33"/>
  <p:tag name="ORIGINALWIDTH" val="3739.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&#10;因此~$\lambda_{s+1}\mathbf{v}_{s+1}+\cdots+\lambda_p\mathbf{v}_p\in\mathrm{Ker}(A)$，&#10;&#10;从而存在~$\lambda_1,\ldots,\lambda_s$~使得&#10;~$\lambda_{s+1}\mathbf{v}_{s+1}+\cdots+\lambda_p\mathbf{v}_p=\lambda_1\mathbf{v}_1+\cdots+\lambda_s\mathbf{v}_s$.&#10;&#10;\end{document}"/>
  <p:tag name="IGUANATEXSIZE" val="28"/>
  <p:tag name="IGUANATEXCURSOR" val="422"/>
  <p:tag name="TRANSPARENCY" val="True"/>
  <p:tag name="FILENAME" val=""/>
  <p:tag name="INPUTTYPE" val="0"/>
  <p:tag name="LATEXENGINEID" val="0"/>
  <p:tag name="TEMPFOLDER" val="c:\tmp\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30.75"/>
  <p:tag name="ORIGINALWIDTH" val="2283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&#10;&#10;于是~$\lambda_1=\cdots=\lambda_s=\lambda_{s+1}=\cdots=\lambda_p=0$.&#10;&#10;从而~$A\mathbf{v}_{s+1},\ldots,A\mathbf{v}_p$~是~$\mathrm{R}(A)$~的一组基.&#10;\end{document}"/>
  <p:tag name="IGUANATEXSIZE" val="28"/>
  <p:tag name="IGUANATEXCURSOR" val="311"/>
  <p:tag name="TRANSPARENCY" val="True"/>
  <p:tag name="FILENAME" val=""/>
  <p:tag name="INPUTTYPE" val="0"/>
  <p:tag name="LATEXENGINEID" val="0"/>
  <p:tag name="TEMPFOLDER" val="c:\tmp\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35"/>
  <p:tag name="ORIGINALWIDTH" val="2930.2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cyan}&#10;&#10;对线性空间~$V$~到{\color{orange}自身}的线性映射~$A:V\to V$，&#10;\[ \text{$A$~是单射~}\Longleftrightarrow\text{~$A$~是满射}\Longleftrightarrow\text{~$A$~可逆}.\] &#10;\end{document}"/>
  <p:tag name="IGUANATEXSIZE" val="28"/>
  <p:tag name="IGUANATEXCURSOR" val="214"/>
  <p:tag name="TRANSPARENCY" val="True"/>
  <p:tag name="FILENAME" val=""/>
  <p:tag name="INPUTTYPE" val="0"/>
  <p:tag name="LATEXENGINEID" val="0"/>
  <p:tag name="TEMPFOLDER" val="c:\tmp\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17"/>
  <p:tag name="ORIGINALWIDTH" val="3711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{\color{cyan}\bf 证明：}$A$~是单射当且仅当~$\mathrm{Ker}(A)=\{\mathbf{0}\}$.&#10;&#10;因为~$\dim \mathrm{R}(A)+\dim\mathrm{Ker}(A)=\dim V$，所以&#10;&#10;$\dim \mathrm{R}(A)=\dim V$~当且仅当~$\dim\mathrm{Ker}(A)=0$. &#10;&#10;因为~$\mathrm{R}(A)\subseteq V$，所以~$V=\mathrm{R}(A)$~&#10;当且仅当~$\dim V=\dim \mathrm{R}(A)$.&#10;{\color{cyan}\bf 证毕.}&#10;\end{document}"/>
  <p:tag name="IGUANATEXSIZE" val="28"/>
  <p:tag name="IGUANATEXCURSOR" val="447"/>
  <p:tag name="TRANSPARENCY" val="True"/>
  <p:tag name="FILENAME" val=""/>
  <p:tag name="INPUTTYPE" val="0"/>
  <p:tag name="LATEXENGINEID" val="0"/>
  <p:tag name="TEMPFOLDER" val="c:\tmp\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11.25"/>
  <p:tag name="ORIGINALWIDTH" val="3108.7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{\color{cyan}若~$A$~为~$n$~阶方阵，&#10;则&#10;&#10;$A\mathbf{x}=\mathbf{0}$~只有零解~$\Longleftrightarrow$~对任意&#10;~$\mathbf{b}\in\mathbb{R}^n$，$A\mathbf{x}=\mathbf{b}$~有唯一解.}&#10;\end{document}"/>
  <p:tag name="IGUANATEXSIZE" val="28"/>
  <p:tag name="IGUANATEXCURSOR" val="197"/>
  <p:tag name="TRANSPARENCY" val="True"/>
  <p:tag name="FILENAME" val=""/>
  <p:tag name="INPUTTYPE" val="0"/>
  <p:tag name="LATEXENGINEID" val="0"/>
  <p:tag name="TEMPFOLDER" val="c:\tmp\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10.5"/>
  <p:tag name="ORIGINALWIDTH" val="2403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设~$V$~是一个有限维线性空间. &#10;&#10;$V$~的{\color{orange}\bf 对偶空间~$V^*$}~由~$V$~上所有线性函数组成. &#10;&#10;&#10;\end{document}"/>
  <p:tag name="IGUANATEXSIZE" val="28"/>
  <p:tag name="IGUANATEXCURSOR" val="224"/>
  <p:tag name="TRANSPARENCY" val="True"/>
  <p:tag name="FILENAME" val=""/>
  <p:tag name="INPUTTYPE" val="0"/>
  <p:tag name="LATEXENGINEID" val="0"/>
  <p:tag name="TEMPFOLDER" val="c:\tmp\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22.75"/>
  <p:tag name="ORIGINALWIDTH" val="3711.7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对于~$V$~的一组基底~$\mathbf{v}_1,\ldots,\mathbf{v}_n$， &#10;&#10;定义~$\mathbf{v}^*_k:V\to\mathbb{R},\quad \mathbf{v}^*_k(\lambda_1\mathbf{v}_1+\cdots+\lambda_n\mathbf{v}_n)=\lambda_k$.&#10;&#10;则{\color{cyan}~$\mathbf{v}^*_1,\ldots,\mathbf{v}^*_n$~是对偶空间~$V^*$~&#10;的一组基底}，称为~$\mathbf{v}_1,\ldots,\mathbf{v}_n$~的{\color{orange}\bf 对偶基}. &#10;&#10;&#10;\end{document}"/>
  <p:tag name="IGUANATEXSIZE" val="28"/>
  <p:tag name="IGUANATEXCURSOR" val="483"/>
  <p:tag name="TRANSPARENCY" val="True"/>
  <p:tag name="FILENAME" val=""/>
  <p:tag name="INPUTTYPE" val="0"/>
  <p:tag name="LATEXENGINEID" val="0"/>
  <p:tag name="TEMPFOLDER" val="c:\tmp\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02.5"/>
  <p:tag name="ORIGINALWIDTH" val="3091.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{\color{cyan}\bf 证明：}对于~$V$~的一组基底~$\mathbf{v}_1,\ldots,\mathbf{v}_n$， &#10;&#10;定义~$\mathbf{v}^*_k(\lambda_1\mathbf{v}_1+\cdots+\lambda_n\mathbf{v}_n)=\lambda_k$.&#10;&#10;则~$\mathbf{v}^*_k$~是~$V$~上的线性函数，满足&#10;~$\mathbf{v}^*_k(\mathbf{v}_j)=\begin{cases}1, &amp; \text{若~}k=j;\\&#10;0, &amp; \text{若~}k\ne j.\end{cases}$ &#10;&#10;&#10;\end{document}"/>
  <p:tag name="IGUANATEXSIZE" val="28"/>
  <p:tag name="IGUANATEXCURSOR" val="205"/>
  <p:tag name="TRANSPARENCY" val="True"/>
  <p:tag name="FILENAME" val=""/>
  <p:tag name="INPUTTYPE" val="0"/>
  <p:tag name="LATEXENGINEID" val="0"/>
  <p:tag name="TEMPFOLDER" val="c:\tmp\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8.75"/>
  <p:tag name="ORIGINALWIDTH" val="3441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对于任意~$f\in V^*$，对任何~$\mathbf{x}=\lambda_1\mathbf{v}_1+\cdots+\lambda_n\mathbf{v}_n$，&#10;$\mathbf{v}^*_k(\mathbf{x})=\lambda_k$，&#10;&#10;&#10;&#10;\end{document}"/>
  <p:tag name="IGUANATEXSIZE" val="28"/>
  <p:tag name="IGUANATEXCURSOR" val="281"/>
  <p:tag name="TRANSPARENCY" val="True"/>
  <p:tag name="FILENAME" val=""/>
  <p:tag name="INPUTTYPE" val="0"/>
  <p:tag name="LATEXENGINEID" val="0"/>
  <p:tag name="TEMPFOLDER" val="c:\tmp\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5.25"/>
  <p:tag name="ORIGINALWIDTH" val="1838.2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$=f(\mathbf{v}_1){\color{cyan}\mathbf{v}^*_1(\mathbf{x})}+\cdots+&#10;f(\mathbf{v}_n){\color{cyan}\mathbf{v}^*_n(\mathbf{x})}.$&#10;&#10;\end{document}"/>
  <p:tag name="IGUANATEXSIZE" val="28"/>
  <p:tag name="IGUANATEXCURSOR" val="227"/>
  <p:tag name="TRANSPARENCY" val="True"/>
  <p:tag name="FILENAME" val=""/>
  <p:tag name="INPUTTYPE" val="0"/>
  <p:tag name="LATEXENGINEID" val="0"/>
  <p:tag name="TEMPFOLDER" val="c:\tmp\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3097.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$f(\mathbf{x})=f({\color{cyan}\lambda_1}\mathbf{v}_1&#10;+\cdots+{\color{cyan}\lambda_n}\mathbf{v}_n)={\color{cyan}\lambda_1}f(\mathbf{v}_1)&#10;+\cdots+{\color{cyan}\lambda_n}f(\mathbf{v}_n)$.&#10;&#10;\end{document}"/>
  <p:tag name="IGUANATEXSIZE" val="28"/>
  <p:tag name="IGUANATEXCURSOR" val="294"/>
  <p:tag name="TRANSPARENCY" val="True"/>
  <p:tag name="FILENAME" val=""/>
  <p:tag name="INPUTTYPE" val="0"/>
  <p:tag name="LATEXENGINEID" val="0"/>
  <p:tag name="TEMPFOLDER" val="c:\tmp\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27"/>
  <p:tag name="ORIGINALWIDTH" val="1895.2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所以~$f=f(\mathbf{v}_1)\mathbf{v}^*_1+\cdots+f(\mathbf{v}_n)\mathbf{v}^*_n$， &#10;&#10;因此~$V^*=\mathrm{span}\{\mathbf{v}^*_1,\ldots,\mathbf{v}^*_n\}$.&#10;&#10;&#10;&#10;\end{document}"/>
  <p:tag name="IGUANATEXSIZE" val="28"/>
  <p:tag name="IGUANATEXCURSOR" val="327"/>
  <p:tag name="TRANSPARENCY" val="True"/>
  <p:tag name="FILENAME" val=""/>
  <p:tag name="INPUTTYPE" val="0"/>
  <p:tag name="LATEXENGINEID" val="0"/>
  <p:tag name="TEMPFOLDER" val="c:\tmp\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27.75"/>
  <p:tag name="ORIGINALWIDTH" val="2786.2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另一方面，若~$\alpha_1\mathbf{v}^*_1+\cdots+\alpha_n&#10;\mathbf{v}^*_n=0$，则&#10;&#10;$0=(\alpha_1\mathbf{v}^*_1+\cdots+\alpha_n&#10;\mathbf{v}^*_n)(\mathbf{v}_k)=\alpha_k$，$k=1,2,\ldots,n$.&#10;&#10;\end{document}"/>
  <p:tag name="IGUANATEXSIZE" val="28"/>
  <p:tag name="IGUANATEXCURSOR" val="353"/>
  <p:tag name="TRANSPARENCY" val="True"/>
  <p:tag name="FILENAME" val=""/>
  <p:tag name="INPUTTYPE" val="0"/>
  <p:tag name="LATEXENGINEID" val="0"/>
  <p:tag name="TEMPFOLDER" val="c:\tmp\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4.25"/>
  <p:tag name="ORIGINALWIDTH" val="2063.2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&#10;因此~$\mathbf{v}^*_1,\ldots,\mathbf{v}^*_n$~是~$V^*$~的一组基.&#10;\color{cyan}\bf 证毕.&#10;&#10;&#10;&#10;\end{document}"/>
  <p:tag name="IGUANATEXSIZE" val="28"/>
  <p:tag name="IGUANATEXCURSOR" val="261"/>
  <p:tag name="TRANSPARENCY" val="True"/>
  <p:tag name="FILENAME" val=""/>
  <p:tag name="INPUTTYPE" val="0"/>
  <p:tag name="LATEXENGINEID" val="0"/>
  <p:tag name="TEMPFOLDER" val="c:\tmp\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561.7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{\color{cyan}$(V^*)^*=V$}&#10;&#10;&#10;&#10;\end{document}"/>
  <p:tag name="IGUANATEXSIZE" val="28"/>
  <p:tag name="IGUANATEXCURSOR" val="197"/>
  <p:tag name="TRANSPARENCY" val="True"/>
  <p:tag name="FILENAME" val=""/>
  <p:tag name="INPUTTYPE" val="0"/>
  <p:tag name="LATEXENGINEID" val="0"/>
  <p:tag name="TEMPFOLDER" val="c:\tmp\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27.75"/>
  <p:tag name="ORIGINALWIDTH" val="2989.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{\color{cyan}\bf 证明：}对任何~$\mathbf{v}\in V$，以及任何~$f\in V^*$，&#10;&#10;$f(\mathbf{v})$~关于~$f$~是线性的：$(\alpha f+\beta g)(\mathbf{v})&#10;=\alpha f(\mathbf{v})+\beta g(\mathbf{v})$.&#10;&#10;\end{document}"/>
  <p:tag name="IGUANATEXSIZE" val="28"/>
  <p:tag name="IGUANATEXCURSOR" val="205"/>
  <p:tag name="TRANSPARENCY" val="True"/>
  <p:tag name="FILENAME" val=""/>
  <p:tag name="INPUTTYPE" val="0"/>
  <p:tag name="LATEXENGINEID" val="0"/>
  <p:tag name="TEMPFOLDER" val="c:\tmp\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27.75"/>
  <p:tag name="ORIGINALWIDTH" val="3067.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&#10;$f\mapsto f(\mathbf{v})$~是~$V^*$~上的线性函数. 所以~$V\subseteq (V^*)^*$.&#10;&#10;又~$\dim V=\dim V^*=\dim (V^*)^*$，所以~$(V^*)^*=V$. {\color{cyan}\bf 证毕.}&#10;&#10;&#10;\end{document}"/>
  <p:tag name="IGUANATEXSIZE" val="28"/>
  <p:tag name="IGUANATEXCURSOR" val="322"/>
  <p:tag name="TRANSPARENCY" val="True"/>
  <p:tag name="FILENAME" val=""/>
  <p:tag name="INPUTTYPE" val="0"/>
  <p:tag name="LATEXENGINEID" val="0"/>
  <p:tag name="TEMPFOLDER" val="c:\tmp\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7"/>
  <p:tag name="ORIGINALWIDTH" val="1299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{\color{cyan}任何矩阵，行秩~$=$~列秩.}&#10;&#10;&#10;&#10;\end{document}"/>
  <p:tag name="IGUANATEXSIZE" val="28"/>
  <p:tag name="IGUANATEXCURSOR" val="197"/>
  <p:tag name="TRANSPARENCY" val="True"/>
  <p:tag name="FILENAME" val=""/>
  <p:tag name="INPUTTYPE" val="0"/>
  <p:tag name="LATEXENGINEID" val="0"/>
  <p:tag name="TEMPFOLDER" val="c:\tmp\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33.75"/>
  <p:tag name="ORIGINALWIDTH" val="3678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{\color{cyan}\bf 证明：}设~$a_1,\ldots,a_p$~是矩阵~$A$~的行向量中的极大线性无关组，&#10;&#10;从而~$p$~是行秩. 把~$a_1,\ldots,a_p$~扩张成~${\mathbb{R}^n}^*$~的一组基&#10;~$a_1,\ldots,a_p,\ldots,a_n$.&#10;&#10;&#10;\end{document}"/>
  <p:tag name="IGUANATEXSIZE" val="28"/>
  <p:tag name="IGUANATEXCURSOR" val="339"/>
  <p:tag name="TRANSPARENCY" val="True"/>
  <p:tag name="FILENAME" val=""/>
  <p:tag name="INPUTTYPE" val="0"/>
  <p:tag name="LATEXENGINEID" val="0"/>
  <p:tag name="TEMPFOLDER" val="c:\tmp\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33"/>
  <p:tag name="ORIGINALWIDTH" val="3218.2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&#10;设~$\mathbf{v}_1,\ldots,\mathbf{v}_n$~是~$\mathbb{R}^n$~中的对偶基. 则&#10;~$a_i(\mathbf{v}_j)=0$，$\forall i\le p&lt;j$.&#10;&#10;因此~$\mathbf{v}_{p+1},\ldots,\mathbf{v}_n\in \mathrm{Ker}(A)$.&#10;&#10;\end{document}"/>
  <p:tag name="IGUANATEXSIZE" val="28"/>
  <p:tag name="IGUANATEXCURSOR" val="250"/>
  <p:tag name="TRANSPARENCY" val="True"/>
  <p:tag name="FILENAME" val=""/>
  <p:tag name="INPUTTYPE" val="0"/>
  <p:tag name="LATEXENGINEID" val="0"/>
  <p:tag name="TEMPFOLDER" val="c:\tmp\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8.75"/>
  <p:tag name="ORIGINALWIDTH" val="2076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&#10;因此~$\mathbf{v}_{p+1},\ldots,\mathbf{v}_n$~是~$\mathrm{Ker}(A)$~的一组基.&#10;&#10;\end{document}"/>
  <p:tag name="IGUANATEXSIZE" val="28"/>
  <p:tag name="IGUANATEXCURSOR" val="252"/>
  <p:tag name="TRANSPARENCY" val="True"/>
  <p:tag name="FILENAME" val=""/>
  <p:tag name="INPUTTYPE" val="0"/>
  <p:tag name="LATEXENGINEID" val="0"/>
  <p:tag name="TEMPFOLDER" val="c:\tmp\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4.25"/>
  <p:tag name="ORIGINALWIDTH" val="2360.2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&#10;从而矩阵~$A$~的列秩~$=n-(n-p)=p$. {\color{cyan}\bf 证毕}&#10;\end{document}"/>
  <p:tag name="IGUANATEXSIZE" val="28"/>
  <p:tag name="IGUANATEXCURSOR" val="233"/>
  <p:tag name="TRANSPARENCY" val="True"/>
  <p:tag name="FILENAME" val=""/>
  <p:tag name="INPUTTYPE" val="0"/>
  <p:tag name="LATEXENGINEID" val="0"/>
  <p:tag name="TEMPFOLDER" val="c:\tmp\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26.5"/>
  <p:tag name="ORIGINALWIDTH" val="2166.7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&#10;若~$\mathbf{x}=\lambda_1\mathbf{v}_1+\cdots&#10;+\lambda_n\mathbf{v}_n\in \mathrm{Ker}(A)$，则&#10;&#10;$\lambda_i=a_i(\mathbf{x})=0$（$i=1,2,\ldots,p$），&#10;&#10;从而&#10;~$\mathbf{x}=\lambda_{p+1}\mathbf{v}_{p+1}+\cdots&#10;+\lambda_n\mathbf{v}_n$.&#10;&#10;\end{document}"/>
  <p:tag name="IGUANATEXSIZE" val="28"/>
  <p:tag name="IGUANATEXCURSOR" val="325"/>
  <p:tag name="TRANSPARENCY" val="True"/>
  <p:tag name="FILENAME" val=""/>
  <p:tag name="INPUTTYPE" val="0"/>
  <p:tag name="LATEXENGINEID" val="0"/>
  <p:tag name="TEMPFOLDER" val="c:\tmp\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10.5"/>
  <p:tag name="ORIGINALWIDTH" val="3289.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如何求子空间的维数，并找出一组基？&#10;&#10;如果求矩阵的列秩、行秩，并找出列空间和行空间的一组基？&#10;&#10;\end{document}"/>
  <p:tag name="IGUANATEXSIZE" val="28"/>
  <p:tag name="IGUANATEXCURSOR" val="231"/>
  <p:tag name="TRANSPARENCY" val="True"/>
  <p:tag name="FILENAME" val=""/>
  <p:tag name="INPUTTYPE" val="0"/>
  <p:tag name="LATEXENGINEID" val="0"/>
  <p:tag name="TEMPFOLDER" val="c:\tmp\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6.25"/>
  <p:tag name="ORIGINALWIDTH" val="3040.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如何在给定的一组基下，把其他向量写成基的线性组合？&#10;&#10;&#10;\end{document}"/>
  <p:tag name="IGUANATEXSIZE" val="28"/>
  <p:tag name="IGUANATEXCURSOR" val="210"/>
  <p:tag name="TRANSPARENCY" val="True"/>
  <p:tag name="FILENAME" val=""/>
  <p:tag name="INPUTTYPE" val="0"/>
  <p:tag name="LATEXENGINEID" val="0"/>
  <p:tag name="TEMPFOLDER" val="c:\tmp\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6.25"/>
  <p:tag name="ORIGINALWIDTH" val="2916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&#10;如何判定一个向量是否可由一组给定的向量线性表示？&#10;&#10;&#10;\end{document}"/>
  <p:tag name="IGUANATEXSIZE" val="28"/>
  <p:tag name="IGUANATEXCURSOR" val="199"/>
  <p:tag name="TRANSPARENCY" val="True"/>
  <p:tag name="FILENAME" val=""/>
  <p:tag name="INPUTTYPE" val="0"/>
  <p:tag name="LATEXENGINEID" val="0"/>
  <p:tag name="TEMPFOLDER" val="c:\tmp\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647.75"/>
  <p:tag name="ORIGINALWIDTH" val="4119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\begin{enumerate}&#10;\item 记~$\mathscr{M}_{m\times n}$~为所有~$m$~行~$n$~列的实数矩阵组成的集合. 证明：&#10;&#10;按矩阵加法和数乘运算，$\mathscr{M}_{m\times n}$~等同于&#10;线性空间~$\mathbb{R}^{mn}$.  &#10;\item 一个~$n$~方阵（~$n$~行~$n$~列的矩阵）称为一个&#10;{\color{orange}\bf ~$n$~阶幻方}，如果它各个行和、&#10;&#10;各个列和以及两个对象线元素之和都相等. 证明~$\mathscr{M}_{3\times 3}$~中所有幻方组成&#10;&#10;一个线性子空间，并求它的维数和一组基底向量.  &#10;\item 对~$A,B\in\mathscr{M}_{m,n},C\in\mathscr{M}_{n,p}$，证明&#10;~$\mathrm{rank}(A+B)\le \mathrm{rank}(A)+\mathrm{rank}(B)$，&#10;$\mathrm{rank}(A)+\mathrm{rank}(C)-n\le \mathrm{rank}(AC)\le\min\{\mathrm{rank}(A),\mathrm{rank}(C)\}$.&#10;\end{enumerate}&#10;\end{document}"/>
  <p:tag name="IGUANATEXSIZE" val="28"/>
  <p:tag name="IGUANATEXCURSOR" val="646"/>
  <p:tag name="TRANSPARENCY" val="True"/>
  <p:tag name="FILENAME" val=""/>
  <p:tag name="INPUTTYPE" val="0"/>
  <p:tag name="LATEXENGINEID" val="0"/>
  <p:tag name="TEMPFOLDER" val="c:\tmp\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81.5"/>
  <p:tag name="ORIGINALWIDTH" val="3541.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\begin{enumerate}&#10;\setcounter{enumi}{3}&#10;\item $\mathbb{Z}_2=\{0,1\}$，其中规定~$0+0=1+1=0\cdot 0=0\cdot 1=1\cdot 0=0$，&#10;&#10;$1+0=0+1=1\cdot 1=1$. 考虑~$\mathbb{Z}^3_2$~上的矩阵&#10;\[ H=(\mathbf{H}_1,\mathbf{H}_2,\ldots,\mathbf{H}_7)=&#10;\begin{bmatrix}&#10;0 &amp; 0 &amp; 0 &amp; 1 &amp; 1 &amp; 1 &amp; 1\\&#10;0 &amp; 1 &amp; 1 &amp; 0 &amp; 0 &amp; 1 &amp; 1\\&#10;1 &amp; 0 &amp; 1 &amp; 0 &amp; 1 &amp; 0 &amp; 1&#10;\end{bmatrix}\]&#10;求~$\mathrm{rank}(H)$~以及~$\mathrm{Ker}(H)$~的一组基. &#10;\end{enumerate}&#10;\end{document}"/>
  <p:tag name="IGUANATEXSIZE" val="28"/>
  <p:tag name="IGUANATEXCURSOR" val="535"/>
  <p:tag name="TRANSPARENCY" val="True"/>
  <p:tag name="FILENAME" val=""/>
  <p:tag name="INPUTTYPE" val="0"/>
  <p:tag name="LATEXENGINEID" val="0"/>
  <p:tag name="TEMPFOLDER" val="c:\tmp\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56.75"/>
  <p:tag name="ORIGINALWIDTH" val="4132.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\begin{enumerate}&#10;\setcounter{enumi}{4}&#10;\item （接上题）设~$\mathbf{k}_1,\mathbf{k}_2,\mathbf{k}_3,\mathbf{k}_4$~是&#10;~$\mathrm{Ker}(H)$~的一组基. 四位~$0,1$~字符串~&#10;$\beta_1\beta_2\beta_3\beta_4$~被编码为&#10;\[ \mathbf{v}=\beta_1\mathbf{k}_1+\beta_2\mathbf{k}_2+\beta_3\mathbf{k}_3+\beta_4\mathbf{k}_4\in\mathbb{Z}^7_2.\]&#10;假设在信号传输中由于噪音干扰，原文~$\mathbf{v}$~的~$7$~位数字中的可能发生错误，但最多只有一位数字发生错误.&#10;如果我们接收到信号~$\mathbf{w}=(1,1,0,0,0,1,1)$，请判断它是否发生了错误，如果有错，是否能找出发生错误的数字的位置？ &#10;\end{enumerate}&#10;\end{document}"/>
  <p:tag name="IGUANATEXSIZE" val="28"/>
  <p:tag name="IGUANATEXCURSOR" val="618"/>
  <p:tag name="TRANSPARENCY" val="True"/>
  <p:tag name="FILENAME" val=""/>
  <p:tag name="INPUTTYPE" val="0"/>
  <p:tag name="LATEXENGINEID" val="0"/>
  <p:tag name="TEMPFOLDER" val="c:\tmp\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42.25"/>
  <p:tag name="ORIGINALWIDTH" val="4131.7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\begin{enumerate}&#10;\setcounter{enumi}{5}&#10;\item 设~$n$~阶方阵~$A$~满足~$A^2=A$. 证明：&#10;\begin{enumerate}&#10;\item 对任意~$\mathbf{u}\in\mathbb{R}^n$，&#10;存在唯一的&#10;~$\mathbf{v}\in\mathrm{Ker}(A)$~和唯一的~$\mathbf{w}\in R(A)$~&#10;使得~&#10;$\mathbf{u}=\mathbf{v}+\mathbf{w}$，且~$A\mathbf{w}=\mathbf{w}$.&#10; 在这个意义下，我们记~$\mathbb{R}^n=\mathrm{Ker}(A)\oplus R(A)$，称&#10;~$\mathbb{R}^n$~是两个子空间~$\mathrm{Ker}(A)$~和~$R(A)$~的{\bf\color{orange}直和}.&#10;\item $\mathrm{rank}(A)+\mathrm{rank}(I-A)=n$.&#10;\end{enumerate}&#10;\item 一般地，我们称~$\mathbb{R}^n$~是两个线性子空间~$V,W$~的{\bf\color{orange}直和}，如果&#10;任意~$\mathbf{u}\in\mathbb{R}^n$~都可以唯一分解为一对向量~$\mathbf{v}\in V$~和~$\mathbf{w}\in W$~的和.&#10;证明投影~$P:\mathbb{R}^n\to \mathbb{R}^n,P(\mathbf{u})=\mathbf{w}$~是线性映射，满足~$P^2=P$，&#10;$V=\mathrm{Ker}(P)$，$R(P)=W$.&#10;\end{enumerate}&#10;\end{document}"/>
  <p:tag name="IGUANATEXSIZE" val="28"/>
  <p:tag name="IGUANATEXCURSOR" val="802"/>
  <p:tag name="TRANSPARENCY" val="True"/>
  <p:tag name="FILENAME" val=""/>
  <p:tag name="INPUTTYPE" val="0"/>
  <p:tag name="LATEXENGINEID" val="0"/>
  <p:tag name="TEMPFOLDER" val="c:\tmp\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436.25"/>
  <p:tag name="ORIGINALWIDTH" val="4127.2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\begin{enumerate}&#10;\setcounter{enumi}{7}&#10;\item 试写出矩阵~$&#10;\begin{bmatrix}&#10;1 &amp; -1 &amp; 1 &amp; 0 \\&#10;4 &amp; 2 &amp; 0 &amp; 8 \\&#10;0 &amp; 2 &amp; 5 &amp; 9&#10;\end{bmatrix}&#10;$~的四个列向量中的一个极大线性无关组. &#10;\item 设矩阵~$A=\begin{bmatrix}1 &amp; 2 &amp; 3\\ 4 &amp; 5 &amp; 6\\ 7 &amp; 8 &amp; 9\end{bmatrix}$，把它看成~$\mathbb{R}^3$~到~$\mathbb{R}^3$~的线性映射，求它的零空间与值域空间的维数，并给出相应的基底. &#10;\end{enumerate}&#10;\end{document}"/>
  <p:tag name="IGUANATEXSIZE" val="28"/>
  <p:tag name="IGUANATEXCURSOR" val="445"/>
  <p:tag name="TRANSPARENCY" val="True"/>
  <p:tag name="FILENAME" val=""/>
  <p:tag name="INPUTTYPE" val="0"/>
  <p:tag name="LATEXENGINEID" val="0"/>
  <p:tag name="TEMPFOLDER" val="c:\tmp\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33.5"/>
  <p:tag name="ORIGINALWIDTH" val="3435"/>
  <p:tag name="OUTPUTDPI" val="1200"/>
  <p:tag name="LATEXADDIN" val="\documentclass{article}&#10;\usepackage{amsmath,amsfonts,xcolor,amsthm,mathrsfs}&#10;\usepackage[UTF8]{ctex}&#10;\pagestyle{empty}&#10;\renewcommand{\proofname}{\bf 证明}&#10;\begin{document}&#10;\color{white}&#10;\begin{enumerate}&#10;\setcounter{enumi}{9}&#10;\item 设矩阵~$A=\begin{bmatrix}1 &amp; 2 &amp; 3\\ 4 &amp; 5 &amp; 6\\ 7 &amp; 8 &amp; 9\end{bmatrix}$，&#10;$V=\left\{\left.\begin{bmatrix}x \\ y\\ z\end{bmatrix}&#10;\right|x+y=z,x,y\in\mathbb{R}\right\}$. &#10;&#10;把~$A$~看成从~$V$~到~$\mathbb{R}^3$~的线性映射~$B$.&#10;\begin{enumerate}&#10;\item 求~$B$~的零空间与值域空间的维数，并给出相应的基底. &#10;\item 在你给出的基底下，把~$B$~写成一个矩阵.&#10;\end{enumerate}&#10;\end{enumerate}&#10;\end{document}"/>
  <p:tag name="IGUANATEXSIZE" val="28"/>
  <p:tag name="IGUANATEXCURSOR" val="522"/>
  <p:tag name="TRANSPARENCY" val="True"/>
  <p:tag name="FILENAME" val=""/>
  <p:tag name="INPUTTYPE" val="0"/>
  <p:tag name="LATEXENGINEID" val="0"/>
  <p:tag name="TEMPFOLDER" val="c:\tmp\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10585</TotalTime>
  <Words>159</Words>
  <Application>Microsoft Office PowerPoint</Application>
  <PresentationFormat>宽屏</PresentationFormat>
  <Paragraphs>26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等线</vt:lpstr>
      <vt:lpstr>等线 Light</vt:lpstr>
      <vt:lpstr>华文中宋</vt:lpstr>
      <vt:lpstr>Arial</vt:lpstr>
      <vt:lpstr>Office 主题​​</vt:lpstr>
      <vt:lpstr>线性代数023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线性代数</dc:title>
  <dc:creator>王先生</dc:creator>
  <cp:lastModifiedBy>王先生</cp:lastModifiedBy>
  <cp:revision>387</cp:revision>
  <dcterms:created xsi:type="dcterms:W3CDTF">2024-05-16T15:19:47Z</dcterms:created>
  <dcterms:modified xsi:type="dcterms:W3CDTF">2024-09-23T14:10:11Z</dcterms:modified>
</cp:coreProperties>
</file>